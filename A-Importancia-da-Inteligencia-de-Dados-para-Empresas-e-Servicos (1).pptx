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Funnel Display" panose="020B0604020202020204" charset="0"/>
      <p:regular r:id="rId14"/>
    </p:embeddedFont>
    <p:embeddedFont>
      <p:font typeface="Funnel Sans" panose="020B0604020202020204" charset="0"/>
      <p:regular r:id="rId15"/>
    </p:embeddedFont>
    <p:embeddedFont>
      <p:font typeface="Gill Sans MT" panose="020B0502020104020203" pitchFamily="34" charset="0"/>
      <p:regular r:id="rId16"/>
      <p:bold r:id="rId17"/>
      <p:italic r:id="rId18"/>
      <p:boldItalic r:id="rId19"/>
    </p:embeddedFont>
    <p:embeddedFont>
      <p:font typeface="Impact" panose="020B0806030902050204" pitchFamily="34" charset="0"/>
      <p:regular r:id="rId20"/>
    </p:embeddedFont>
    <p:embeddedFont>
      <p:font typeface="Segoe UI Historic" panose="020B0502040204020203" pitchFamily="34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5403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343797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88371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064535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62853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27098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9105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0339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518112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2276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0231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5427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403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0326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41636" y="0"/>
            <a:ext cx="4571886" cy="68580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5" name="Text 1"/>
          <p:cNvSpPr/>
          <p:nvPr/>
        </p:nvSpPr>
        <p:spPr>
          <a:xfrm>
            <a:off x="1058568" y="1573212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3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 Importância da Inteligência de Dados para Empresas e Serviços</a:t>
            </a:r>
            <a:endParaRPr lang="en-US" sz="3650" dirty="0"/>
          </a:p>
        </p:txBody>
      </p:sp>
      <p:sp>
        <p:nvSpPr>
          <p:cNvPr id="6" name="Text 2"/>
          <p:cNvSpPr/>
          <p:nvPr/>
        </p:nvSpPr>
        <p:spPr>
          <a:xfrm>
            <a:off x="1058568" y="3632398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ETEC Professor Horácio Augusto da Silveira · 2AI · 2026</a:t>
            </a:r>
            <a:endParaRPr lang="en-US" sz="1550" dirty="0"/>
          </a:p>
        </p:txBody>
      </p:sp>
      <p:sp>
        <p:nvSpPr>
          <p:cNvPr id="7" name="Shape 3"/>
          <p:cNvSpPr/>
          <p:nvPr/>
        </p:nvSpPr>
        <p:spPr>
          <a:xfrm>
            <a:off x="1058568" y="4175919"/>
            <a:ext cx="2562260" cy="303113"/>
          </a:xfrm>
          <a:prstGeom prst="roundRect">
            <a:avLst>
              <a:gd name="adj" fmla="val 22112"/>
            </a:avLst>
          </a:prstGeom>
          <a:solidFill>
            <a:srgbClr val="D8E7F3"/>
          </a:solidFill>
          <a:ln/>
        </p:spPr>
      </p:sp>
      <p:sp>
        <p:nvSpPr>
          <p:cNvPr id="8" name="Text 4"/>
          <p:cNvSpPr/>
          <p:nvPr/>
        </p:nvSpPr>
        <p:spPr>
          <a:xfrm>
            <a:off x="1147167" y="4235748"/>
            <a:ext cx="293253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EDUARDO MARASSATTI SASSONE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720540" y="4175919"/>
            <a:ext cx="2439629" cy="303113"/>
          </a:xfrm>
          <a:prstGeom prst="roundRect">
            <a:avLst>
              <a:gd name="adj" fmla="val 22112"/>
            </a:avLst>
          </a:prstGeom>
          <a:solidFill>
            <a:srgbClr val="D8E7F3"/>
          </a:solidFill>
          <a:ln/>
        </p:spPr>
      </p:sp>
      <p:sp>
        <p:nvSpPr>
          <p:cNvPr id="10" name="Text 6"/>
          <p:cNvSpPr/>
          <p:nvPr/>
        </p:nvSpPr>
        <p:spPr>
          <a:xfrm>
            <a:off x="3840195" y="4235748"/>
            <a:ext cx="2809904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ENDRY FRUGIS SOUZA SANTOS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058568" y="4578747"/>
            <a:ext cx="2540433" cy="303113"/>
          </a:xfrm>
          <a:prstGeom prst="roundRect">
            <a:avLst>
              <a:gd name="adj" fmla="val 22112"/>
            </a:avLst>
          </a:prstGeom>
          <a:solidFill>
            <a:srgbClr val="D8E7F3"/>
          </a:solidFill>
          <a:ln/>
        </p:spPr>
      </p:sp>
      <p:sp>
        <p:nvSpPr>
          <p:cNvPr id="12" name="Text 8"/>
          <p:cNvSpPr/>
          <p:nvPr/>
        </p:nvSpPr>
        <p:spPr>
          <a:xfrm>
            <a:off x="1178222" y="4638576"/>
            <a:ext cx="291070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FRANCISCO TADEU VIEIRA FILHO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698713" y="4578747"/>
            <a:ext cx="3215302" cy="303113"/>
          </a:xfrm>
          <a:prstGeom prst="roundRect">
            <a:avLst>
              <a:gd name="adj" fmla="val 22112"/>
            </a:avLst>
          </a:prstGeom>
          <a:solidFill>
            <a:srgbClr val="D8E7F3"/>
          </a:solidFill>
          <a:ln/>
        </p:spPr>
      </p:sp>
      <p:sp>
        <p:nvSpPr>
          <p:cNvPr id="14" name="Text 10"/>
          <p:cNvSpPr/>
          <p:nvPr/>
        </p:nvSpPr>
        <p:spPr>
          <a:xfrm>
            <a:off x="3818367" y="4638576"/>
            <a:ext cx="358557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GABRIEL PEREIRA RODRIGUES DE ARAUJO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058568" y="4981575"/>
            <a:ext cx="3109735" cy="303113"/>
          </a:xfrm>
          <a:prstGeom prst="roundRect">
            <a:avLst>
              <a:gd name="adj" fmla="val 22112"/>
            </a:avLst>
          </a:prstGeom>
          <a:solidFill>
            <a:srgbClr val="D8E7F3"/>
          </a:solidFill>
          <a:ln/>
        </p:spPr>
      </p:sp>
      <p:sp>
        <p:nvSpPr>
          <p:cNvPr id="16" name="Text 12"/>
          <p:cNvSpPr/>
          <p:nvPr/>
        </p:nvSpPr>
        <p:spPr>
          <a:xfrm>
            <a:off x="1178222" y="5041404"/>
            <a:ext cx="348001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GUSTAVO ANDREWS MEIRINHO LENCINA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06028"/>
            <a:ext cx="6223638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Sumário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69971" y="1331119"/>
            <a:ext cx="342792" cy="214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69971" y="1603276"/>
            <a:ext cx="6223638" cy="1905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6" name="Text 3"/>
          <p:cNvSpPr/>
          <p:nvPr/>
        </p:nvSpPr>
        <p:spPr>
          <a:xfrm>
            <a:off x="5269971" y="1727002"/>
            <a:ext cx="6223638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Introdução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269971" y="2067421"/>
            <a:ext cx="622363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Transformação digital e dados como recurso estratégico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69971" y="2598142"/>
            <a:ext cx="342792" cy="214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69971" y="2870299"/>
            <a:ext cx="6223638" cy="1905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0" name="Text 7"/>
          <p:cNvSpPr/>
          <p:nvPr/>
        </p:nvSpPr>
        <p:spPr>
          <a:xfrm>
            <a:off x="5269971" y="2994025"/>
            <a:ext cx="6223638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Capítulo 1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269971" y="3334445"/>
            <a:ext cx="622363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Fundamentos da Inteligência de Dados nas Organizações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69971" y="3865166"/>
            <a:ext cx="342792" cy="214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69971" y="4137323"/>
            <a:ext cx="6223638" cy="1905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4" name="Text 11"/>
          <p:cNvSpPr/>
          <p:nvPr/>
        </p:nvSpPr>
        <p:spPr>
          <a:xfrm>
            <a:off x="5269971" y="4261048"/>
            <a:ext cx="6223638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Capítulo 2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269971" y="4601468"/>
            <a:ext cx="622363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Machine Learning, Inovação e o Futuro do Trabalho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69971" y="5132189"/>
            <a:ext cx="342792" cy="214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69971" y="5404346"/>
            <a:ext cx="6223638" cy="1905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8" name="Text 15"/>
          <p:cNvSpPr/>
          <p:nvPr/>
        </p:nvSpPr>
        <p:spPr>
          <a:xfrm>
            <a:off x="5269971" y="5528072"/>
            <a:ext cx="6223638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Conclusão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269971" y="5868491"/>
            <a:ext cx="622363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Dados como fator essencial de competitividade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42349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3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Introdução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69971" y="2309316"/>
            <a:ext cx="3012107" cy="1782068"/>
          </a:xfrm>
          <a:prstGeom prst="roundRect">
            <a:avLst>
              <a:gd name="adj" fmla="val 470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75746" y="2515096"/>
            <a:ext cx="26005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Dados como Recurso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75746" y="2928045"/>
            <a:ext cx="26005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Recurso mais valioso da sociedade contemporânea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481503" y="2309316"/>
            <a:ext cx="3012107" cy="1782068"/>
          </a:xfrm>
          <a:prstGeom prst="roundRect">
            <a:avLst>
              <a:gd name="adj" fmla="val 470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7277" y="2515096"/>
            <a:ext cx="26005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Inteligência de Dados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7277" y="2928045"/>
            <a:ext cx="26005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Coleta, organização e análise de grandes volumes de informações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269971" y="4290814"/>
            <a:ext cx="6223638" cy="1143695"/>
          </a:xfrm>
          <a:prstGeom prst="roundRect">
            <a:avLst>
              <a:gd name="adj" fmla="val 7325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75746" y="4496594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IA e Machine Learning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75746" y="4909542"/>
            <a:ext cx="58120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Previsões precisas e automação em tempo real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1325" y="60325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 Que é Inteligência de Dados?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25" y="2107605"/>
            <a:ext cx="6868048" cy="33850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1558" y="1498203"/>
            <a:ext cx="350164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Evolução do BI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11558" y="1907580"/>
            <a:ext cx="3501640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 década de 1990 ao Big Data, Analytics e Machine Learning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1558" y="2602805"/>
            <a:ext cx="3501640" cy="10582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1327" y="2796381"/>
            <a:ext cx="303830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Coleta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681327" y="3205758"/>
            <a:ext cx="3038300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ERP, CRM, e-commerce, logística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1558" y="3813770"/>
            <a:ext cx="3501640" cy="10582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1327" y="4007346"/>
            <a:ext cx="303830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Integração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681327" y="4416723"/>
            <a:ext cx="3038300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Padronização e consistência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1558" y="5024735"/>
            <a:ext cx="3501640" cy="10582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1327" y="5218311"/>
            <a:ext cx="303830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Análise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681327" y="5627688"/>
            <a:ext cx="3038300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Relatórios, previsões e indicadores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8647" y="73470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3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Cadeia de Valor dos Dados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866" y="1720341"/>
            <a:ext cx="8395085" cy="38422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17018" y="4659114"/>
            <a:ext cx="1576113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Análise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30684" y="4516410"/>
            <a:ext cx="1576113" cy="57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Armazenamento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655146" y="4659114"/>
            <a:ext cx="1576113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Integração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636426" y="4659114"/>
            <a:ext cx="1576113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Coleta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647" y="5786920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Os dados entram como matéria-prima e são transformados em decisões, previsões e melhorias operacionais.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284" y="611485"/>
            <a:ext cx="6223638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kern="0" spc="-25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Benefícios para Empresas</a:t>
            </a:r>
            <a:endParaRPr lang="en-US" sz="2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284" y="1252438"/>
            <a:ext cx="389523" cy="3895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08284" y="1794073"/>
            <a:ext cx="6223638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Otimização Operacional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108284" y="2096294"/>
            <a:ext cx="622363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Identifica gargalos e desperdícios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8284" y="2561828"/>
            <a:ext cx="389523" cy="38953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08284" y="3103463"/>
            <a:ext cx="6223638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Análise Preditiva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108284" y="3405684"/>
            <a:ext cx="622363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Antecipa tendências e demandas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8284" y="3871218"/>
            <a:ext cx="389523" cy="38953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08284" y="4412853"/>
            <a:ext cx="6223638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Personalização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1108284" y="4683124"/>
            <a:ext cx="622363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Experiência alinhada ao consumidor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8284" y="5180608"/>
            <a:ext cx="389523" cy="38953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08284" y="5627191"/>
            <a:ext cx="6223638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Segurança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1108284" y="5913437"/>
            <a:ext cx="622363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Detecção de fraudes em tempo real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007" y="551160"/>
            <a:ext cx="6044546" cy="540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kern="0" spc="-29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Desafios na Implementação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63007" y="1804293"/>
            <a:ext cx="3486757" cy="1423591"/>
          </a:xfrm>
          <a:prstGeom prst="roundRect">
            <a:avLst>
              <a:gd name="adj" fmla="val 5425"/>
            </a:avLst>
          </a:prstGeom>
          <a:solidFill>
            <a:srgbClr val="FAF5EB"/>
          </a:solidFill>
          <a:ln w="25399">
            <a:solidFill>
              <a:srgbClr val="D5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2254" y="2013545"/>
            <a:ext cx="306826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29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Adaptação Tecnológica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72254" y="2453481"/>
            <a:ext cx="3068263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kern="0" spc="-2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Dificuldade em adotar novas ferramentas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3007" y="3397349"/>
            <a:ext cx="3486757" cy="1141016"/>
          </a:xfrm>
          <a:prstGeom prst="roundRect">
            <a:avLst>
              <a:gd name="adj" fmla="val 6769"/>
            </a:avLst>
          </a:prstGeom>
          <a:solidFill>
            <a:srgbClr val="FAF5EB"/>
          </a:solidFill>
          <a:ln w="25399">
            <a:solidFill>
              <a:srgbClr val="D5CD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2254" y="3606602"/>
            <a:ext cx="306826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29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Custos Elevados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2254" y="4046537"/>
            <a:ext cx="3068263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kern="0" spc="-2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Infraestrutura, manutenção e energia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3007" y="4707830"/>
            <a:ext cx="3486757" cy="1141016"/>
          </a:xfrm>
          <a:prstGeom prst="roundRect">
            <a:avLst>
              <a:gd name="adj" fmla="val 6769"/>
            </a:avLst>
          </a:prstGeom>
          <a:solidFill>
            <a:srgbClr val="FAF5EB"/>
          </a:solidFill>
          <a:ln w="25399">
            <a:solidFill>
              <a:srgbClr val="D5CD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2254" y="4917083"/>
            <a:ext cx="306826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29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Falta de Padronização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72254" y="5357019"/>
            <a:ext cx="3068263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kern="0" spc="-2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Compromete qualidade e integração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849" y="1536998"/>
            <a:ext cx="6860011" cy="45791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735" y="740073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3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Machine Learning e Inovação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1304872" y="2436912"/>
            <a:ext cx="592450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"Machine learning systems learn from data rather than through explicit programming" — MIT Sloan, 2021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1005735" y="2212578"/>
            <a:ext cx="25399" cy="1087041"/>
          </a:xfrm>
          <a:prstGeom prst="roundRect">
            <a:avLst>
              <a:gd name="adj" fmla="val 50001"/>
            </a:avLst>
          </a:prstGeom>
          <a:solidFill>
            <a:srgbClr val="3371A5"/>
          </a:solidFill>
          <a:ln/>
        </p:spPr>
      </p:sp>
      <p:sp>
        <p:nvSpPr>
          <p:cNvPr id="6" name="Shape 3"/>
          <p:cNvSpPr/>
          <p:nvPr/>
        </p:nvSpPr>
        <p:spPr>
          <a:xfrm>
            <a:off x="1005735" y="3523952"/>
            <a:ext cx="6223638" cy="2593876"/>
          </a:xfrm>
          <a:prstGeom prst="roundRect">
            <a:avLst>
              <a:gd name="adj" fmla="val 323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12085" y="3530302"/>
            <a:ext cx="3105469" cy="1450181"/>
          </a:xfrm>
          <a:custGeom>
            <a:avLst/>
            <a:gdLst/>
            <a:ahLst/>
            <a:cxnLst/>
            <a:rect l="l" t="t" r="r" b="b"/>
            <a:pathLst>
              <a:path w="3105469" h="1450181">
                <a:moveTo>
                  <a:pt x="69818" y="0"/>
                </a:moveTo>
                <a:lnTo>
                  <a:pt x="3105469" y="0"/>
                </a:lnTo>
                <a:lnTo>
                  <a:pt x="3105469" y="1450181"/>
                </a:lnTo>
                <a:lnTo>
                  <a:pt x="0" y="1450181"/>
                </a:lnTo>
                <a:lnTo>
                  <a:pt x="0" y="69820"/>
                </a:lnTo>
                <a:arcTo wR="69818" hR="69820" stAng="10800000" swAng="5400000"/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8" name="Text 5"/>
          <p:cNvSpPr/>
          <p:nvPr/>
        </p:nvSpPr>
        <p:spPr>
          <a:xfrm>
            <a:off x="1211509" y="3729732"/>
            <a:ext cx="270662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Recomendação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11509" y="4142680"/>
            <a:ext cx="270662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Produtos e conteúdos personalizados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117554" y="3530302"/>
            <a:ext cx="3105469" cy="1450181"/>
          </a:xfrm>
          <a:custGeom>
            <a:avLst/>
            <a:gdLst/>
            <a:ahLst/>
            <a:cxnLst/>
            <a:rect l="l" t="t" r="r" b="b"/>
            <a:pathLst>
              <a:path w="3105469" h="1450181">
                <a:moveTo>
                  <a:pt x="0" y="0"/>
                </a:moveTo>
                <a:lnTo>
                  <a:pt x="3035651" y="0"/>
                </a:lnTo>
                <a:arcTo wR="69818" hR="69820" stAng="16200000" swAng="5400000"/>
                <a:lnTo>
                  <a:pt x="3105469" y="1450181"/>
                </a:lnTo>
                <a:lnTo>
                  <a:pt x="0" y="1450181"/>
                </a:lnTo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11" name="Shape 8"/>
          <p:cNvSpPr/>
          <p:nvPr/>
        </p:nvSpPr>
        <p:spPr>
          <a:xfrm>
            <a:off x="4117554" y="3530302"/>
            <a:ext cx="25399" cy="1450181"/>
          </a:xfrm>
          <a:prstGeom prst="roundRect">
            <a:avLst>
              <a:gd name="adj" fmla="val 50001"/>
            </a:avLst>
          </a:prstGeom>
          <a:solidFill>
            <a:srgbClr val="D5CDBE"/>
          </a:solidFill>
          <a:ln/>
        </p:spPr>
      </p:sp>
      <p:sp>
        <p:nvSpPr>
          <p:cNvPr id="12" name="Text 9"/>
          <p:cNvSpPr/>
          <p:nvPr/>
        </p:nvSpPr>
        <p:spPr>
          <a:xfrm>
            <a:off x="4316978" y="3729732"/>
            <a:ext cx="270662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Previsão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16978" y="4142680"/>
            <a:ext cx="270662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Falhas em equipamentos e demandas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1012085" y="4980484"/>
            <a:ext cx="6210938" cy="1130995"/>
          </a:xfrm>
          <a:custGeom>
            <a:avLst/>
            <a:gdLst/>
            <a:ahLst/>
            <a:cxnLst/>
            <a:rect l="l" t="t" r="r" b="b"/>
            <a:pathLst>
              <a:path w="6210938" h="1130995">
                <a:moveTo>
                  <a:pt x="0" y="0"/>
                </a:moveTo>
                <a:lnTo>
                  <a:pt x="6210938" y="0"/>
                </a:lnTo>
                <a:lnTo>
                  <a:pt x="6210938" y="1061175"/>
                </a:lnTo>
                <a:arcTo wR="69818" hR="69820" stAng="0" swAng="5400000"/>
                <a:lnTo>
                  <a:pt x="69818" y="1130995"/>
                </a:lnTo>
                <a:arcTo wR="69818" hR="69820" stAng="5400000" swAng="5400000"/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2085" y="4980484"/>
            <a:ext cx="6210938" cy="2540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6" name="Text 13"/>
          <p:cNvSpPr/>
          <p:nvPr/>
        </p:nvSpPr>
        <p:spPr>
          <a:xfrm>
            <a:off x="1211509" y="5179913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Inovação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1509" y="5592862"/>
            <a:ext cx="58120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"Data has become a strategic asset for innovation" — MIT, 2021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740" y="560685"/>
            <a:ext cx="10795524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kern="0" spc="-26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 Futuro do Trabalho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40" y="2214166"/>
            <a:ext cx="6878664" cy="3103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86031" y="1366540"/>
            <a:ext cx="352148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Novas Profissões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6751" y="1758007"/>
            <a:ext cx="243080" cy="2430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12671" y="1752997"/>
            <a:ext cx="299484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Cientista de Dados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6751" y="2512566"/>
            <a:ext cx="243080" cy="24308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12671" y="2507555"/>
            <a:ext cx="299484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Engenheiro de Dados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6751" y="3267125"/>
            <a:ext cx="243080" cy="24308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812671" y="3262114"/>
            <a:ext cx="299484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Analista de BI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6751" y="4021683"/>
            <a:ext cx="243080" cy="24308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812671" y="4016673"/>
            <a:ext cx="299484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Especialista em ML</a:t>
            </a:r>
            <a:endParaRPr lang="en-US" sz="1500" dirty="0"/>
          </a:p>
        </p:txBody>
      </p:sp>
      <p:sp>
        <p:nvSpPr>
          <p:cNvPr id="13" name="Shape 6"/>
          <p:cNvSpPr/>
          <p:nvPr/>
        </p:nvSpPr>
        <p:spPr>
          <a:xfrm>
            <a:off x="8279781" y="4571454"/>
            <a:ext cx="3521483" cy="1493143"/>
          </a:xfrm>
          <a:prstGeom prst="roundRect">
            <a:avLst>
              <a:gd name="adj" fmla="val 4559"/>
            </a:avLst>
          </a:prstGeom>
          <a:solidFill>
            <a:srgbClr val="D8E7F3"/>
          </a:solidFill>
          <a:ln/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051" y="4864199"/>
            <a:ext cx="202500" cy="1620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812572" y="4814987"/>
            <a:ext cx="2832922" cy="1175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kern="0" spc="-26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"As tecnologias digitais estão redefinindo as relações de trabalho e exigindo novas competências profissionais" — Silva, Souza e Oliveira, 2021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0456" y="54766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kern="0" spc="-3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Conclusão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959892" y="2209029"/>
            <a:ext cx="5175992" cy="1650382"/>
          </a:xfrm>
          <a:prstGeom prst="roundRect">
            <a:avLst>
              <a:gd name="adj" fmla="val 5727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66233" y="2419647"/>
            <a:ext cx="26005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3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Vantagem Competitiva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66232" y="2995465"/>
            <a:ext cx="506965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Inteligência de dados é estratégia indispensável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688452" y="2209029"/>
            <a:ext cx="4959466" cy="1650382"/>
          </a:xfrm>
          <a:prstGeom prst="roundRect">
            <a:avLst>
              <a:gd name="adj" fmla="val 5727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65483" y="2376139"/>
            <a:ext cx="26005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3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Era Digital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865483" y="2929933"/>
            <a:ext cx="463715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Transforma o mercado e elimina tarefas repetitivas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39887" y="4170190"/>
            <a:ext cx="6223638" cy="1143695"/>
          </a:xfrm>
          <a:prstGeom prst="roundRect">
            <a:avLst>
              <a:gd name="adj" fmla="val 7325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6392" y="4259719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3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Inovação Contínua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426392" y="4835104"/>
            <a:ext cx="58120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BI, Big Data e ML impulsionam o desenvolvimento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60456" y="5227439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9">
            <a:extLst>
              <a:ext uri="{FF2B5EF4-FFF2-40B4-BE49-F238E27FC236}">
                <a16:creationId xmlns:a16="http://schemas.microsoft.com/office/drawing/2014/main" id="{12ED20E5-30E9-9EF9-2E43-1981AA0B8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655" y="850821"/>
            <a:ext cx="8187071" cy="4418176"/>
          </a:xfrm>
        </p:spPr>
        <p:txBody>
          <a:bodyPr>
            <a:normAutofit/>
          </a:bodyPr>
          <a:lstStyle/>
          <a:p>
            <a:r>
              <a:rPr lang="pt-BR" dirty="0"/>
              <a:t>Obrigado pela atenção de </a:t>
            </a:r>
            <a:r>
              <a:rPr lang="pt-BR" dirty="0" err="1"/>
              <a:t>todes</a:t>
            </a:r>
            <a:r>
              <a:rPr lang="pt-BR" dirty="0"/>
              <a:t> (</a:t>
            </a:r>
            <a:r>
              <a:rPr lang="pt-BR" dirty="0" err="1"/>
              <a:t>is</a:t>
            </a:r>
            <a:r>
              <a:rPr lang="pt-BR" dirty="0"/>
              <a:t>/</a:t>
            </a:r>
            <a:r>
              <a:rPr lang="pt-BR" dirty="0" err="1"/>
              <a:t>ex</a:t>
            </a:r>
            <a:r>
              <a:rPr lang="pt-BR" dirty="0"/>
              <a:t>)</a:t>
            </a:r>
            <a:endParaRPr lang="pt-BR" dirty="0">
              <a:latin typeface="Segoe UI Historic" panose="020B0502040204020203" pitchFamily="34" charset="0"/>
              <a:ea typeface="Segoe UI Historic" panose="020B0502040204020203" pitchFamily="34" charset="0"/>
              <a:cs typeface="Segoe UI Historic" panose="020B0502040204020203" pitchFamily="34" charset="0"/>
            </a:endParaRPr>
          </a:p>
        </p:txBody>
      </p:sp>
      <p:sp>
        <p:nvSpPr>
          <p:cNvPr id="31" name="Espaço Reservado para Texto 30">
            <a:extLst>
              <a:ext uri="{FF2B5EF4-FFF2-40B4-BE49-F238E27FC236}">
                <a16:creationId xmlns:a16="http://schemas.microsoft.com/office/drawing/2014/main" id="{BC275EF5-0D01-80F3-B6A7-8CE57010F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1655" y="5268997"/>
            <a:ext cx="7320897" cy="732033"/>
          </a:xfrm>
        </p:spPr>
        <p:txBody>
          <a:bodyPr/>
          <a:lstStyle/>
          <a:p>
            <a:r>
              <a:rPr lang="en-US" sz="2000" kern="0" spc="-31" dirty="0">
                <a:solidFill>
                  <a:schemeClr val="tx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	</a:t>
            </a:r>
            <a:r>
              <a:rPr lang="en-US" sz="2000" kern="0" spc="-31" dirty="0" err="1">
                <a:solidFill>
                  <a:schemeClr val="tx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Orientadora</a:t>
            </a:r>
            <a:r>
              <a:rPr lang="en-US" sz="2000" kern="0" spc="-31" dirty="0">
                <a:solidFill>
                  <a:schemeClr val="tx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</a:t>
            </a:r>
            <a:r>
              <a:rPr lang="en-US" sz="2000" kern="0" spc="-31" dirty="0" err="1">
                <a:solidFill>
                  <a:schemeClr val="tx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Flávia</a:t>
            </a:r>
            <a:r>
              <a:rPr lang="en-US" sz="2000" kern="0" spc="-31" dirty="0">
                <a:solidFill>
                  <a:schemeClr val="tx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Regina Do Nascimento 			 São Paulo, 2026</a:t>
            </a:r>
            <a:endParaRPr lang="en-US" sz="2000" dirty="0">
              <a:solidFill>
                <a:schemeClr val="tx1"/>
              </a:solidFill>
            </a:endParaRPr>
          </a:p>
          <a:p>
            <a:endParaRPr lang="pt-BR" dirty="0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AC4ACC48-794E-5D58-8580-4FDCAA4D7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522" y="3196250"/>
            <a:ext cx="806749" cy="73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53542"/>
      </p:ext>
    </p:extLst>
  </p:cSld>
  <p:clrMapOvr>
    <a:masterClrMapping/>
  </p:clrMapOvr>
</p:sld>
</file>

<file path=ppt/theme/theme1.xml><?xml version="1.0" encoding="utf-8"?>
<a:theme xmlns:a="http://schemas.openxmlformats.org/drawingml/2006/main" name="Selo">
  <a:themeElements>
    <a:clrScheme name="Sel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Sel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l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TM10001106[[fn=Selo]]</Template>
  <TotalTime>29</TotalTime>
  <Words>384</Words>
  <Application>Microsoft Office PowerPoint</Application>
  <PresentationFormat>Widescreen</PresentationFormat>
  <Paragraphs>92</Paragraphs>
  <Slides>11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Arial</vt:lpstr>
      <vt:lpstr>Impact</vt:lpstr>
      <vt:lpstr>Funnel Sans</vt:lpstr>
      <vt:lpstr>Funnel Display</vt:lpstr>
      <vt:lpstr>Funnel Display Light</vt:lpstr>
      <vt:lpstr>Gill Sans MT</vt:lpstr>
      <vt:lpstr>Segoe UI Historic</vt:lpstr>
      <vt:lpstr>Selo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 pela atenção de todes (is/ex)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Etec Prof. Horácio Augusto da Silveira</dc:creator>
  <cp:lastModifiedBy>etechas</cp:lastModifiedBy>
  <cp:revision>2</cp:revision>
  <dcterms:created xsi:type="dcterms:W3CDTF">2026-09-01T11:23:03Z</dcterms:created>
  <dcterms:modified xsi:type="dcterms:W3CDTF">2026-09-01T11:53:06Z</dcterms:modified>
</cp:coreProperties>
</file>