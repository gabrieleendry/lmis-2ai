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5805360" y="1317240"/>
            <a:ext cx="2831400" cy="264780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6960" y="849600"/>
            <a:ext cx="5060520" cy="246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  <p:extLst>
      <p:ext uri="{BB962C8B-B14F-4D97-AF65-F5344CB8AC3E}">
        <p14:creationId xmlns:p14="http://schemas.microsoft.com/office/powerpoint/2010/main" val="213761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846000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07269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9600" y="1143000"/>
            <a:ext cx="3852000" cy="56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77602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8;p14"/>
          <p:cNvPicPr/>
          <p:nvPr/>
        </p:nvPicPr>
        <p:blipFill>
          <a:blip r:embed="rId6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79320" y="794520"/>
            <a:ext cx="786636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" name="Google Shape;101;p14"/>
          <p:cNvPicPr/>
          <p:nvPr/>
        </p:nvPicPr>
        <p:blipFill>
          <a:blip r:embed="rId7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79;p28"/>
          <p:cNvPicPr/>
          <p:nvPr/>
        </p:nvPicPr>
        <p:blipFill>
          <a:blip r:embed="rId2"/>
          <a:stretch/>
        </p:blipFill>
        <p:spPr>
          <a:xfrm>
            <a:off x="5800680" y="1314360"/>
            <a:ext cx="2828520" cy="2647440"/>
          </a:xfrm>
          <a:prstGeom prst="rect">
            <a:avLst/>
          </a:prstGeom>
          <a:noFill/>
          <a:ln w="19050">
            <a:solidFill>
              <a:srgbClr val="707070"/>
            </a:solidFill>
            <a:round/>
          </a:ln>
        </p:spPr>
      </p:pic>
      <p:sp>
        <p:nvSpPr>
          <p:cNvPr id="26" name="Retângulo 25"/>
          <p:cNvSpPr/>
          <p:nvPr/>
        </p:nvSpPr>
        <p:spPr>
          <a:xfrm>
            <a:off x="609480" y="847801"/>
            <a:ext cx="5057280" cy="46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5600" b="0" u="none" strike="noStrike" dirty="0" err="1">
                <a:solidFill>
                  <a:srgbClr val="191919"/>
                </a:solidFill>
                <a:effectLst/>
                <a:uFillTx/>
                <a:latin typeface="VT323"/>
              </a:rPr>
              <a:t>Inteligência</a:t>
            </a:r>
            <a:r>
              <a:rPr lang="en-US" sz="5600" b="0" u="none" strike="noStrike" dirty="0">
                <a:solidFill>
                  <a:srgbClr val="191919"/>
                </a:solidFill>
                <a:effectLst/>
                <a:uFillTx/>
                <a:latin typeface="VT323"/>
              </a:rPr>
              <a:t> de Dados</a:t>
            </a:r>
            <a:endParaRPr lang="en-US" sz="5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14800" y="3829140"/>
            <a:ext cx="4352400" cy="762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191919"/>
                </a:solidFill>
                <a:effectLst/>
                <a:uFillTx/>
                <a:latin typeface="Roboto Mono"/>
              </a:rPr>
              <a:t>Importância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Roboto Mono"/>
              </a:rPr>
              <a:t>, </a:t>
            </a:r>
            <a:r>
              <a:rPr lang="en-US" sz="1400" b="0" u="none" strike="noStrike" dirty="0" err="1">
                <a:solidFill>
                  <a:srgbClr val="191919"/>
                </a:solidFill>
                <a:effectLst/>
                <a:uFillTx/>
                <a:latin typeface="Roboto Mono"/>
              </a:rPr>
              <a:t>aplicações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Roboto Mono"/>
              </a:rPr>
              <a:t> e </a:t>
            </a:r>
            <a:r>
              <a:rPr lang="en-US" sz="1400" b="0" u="none" strike="noStrike" dirty="0" err="1">
                <a:solidFill>
                  <a:srgbClr val="191919"/>
                </a:solidFill>
                <a:effectLst/>
                <a:uFillTx/>
                <a:latin typeface="Roboto Mono"/>
              </a:rPr>
              <a:t>impactos</a:t>
            </a: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Roboto Mono"/>
              </a:rPr>
              <a:t> do Machine Learning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676440" y="790560"/>
            <a:ext cx="786744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Dados como ativo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1523880" y="1819440"/>
            <a:ext cx="691488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Dados tornaram-se o principal recurso para competir e inovar. A transformação digital elevou o volume de informações, e empresas que investem em inteligência de dados decidem com mais rapidez e precisão. Com decisões informadas, ganham agilidade, personalização e eficiência operacional, abrindo oportunidades de crescimento.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192;p29"/>
          <p:cNvPicPr/>
          <p:nvPr/>
        </p:nvPicPr>
        <p:blipFill>
          <a:blip r:embed="rId2"/>
          <a:stretch/>
        </p:blipFill>
        <p:spPr>
          <a:xfrm>
            <a:off x="8106840" y="4906800"/>
            <a:ext cx="861480" cy="13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Retângulo: Cantos Arredondados 30"/>
          <p:cNvSpPr/>
          <p:nvPr/>
        </p:nvSpPr>
        <p:spPr>
          <a:xfrm>
            <a:off x="221940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Retângulo: Cantos Arredondados 31"/>
          <p:cNvSpPr/>
          <p:nvPr/>
        </p:nvSpPr>
        <p:spPr>
          <a:xfrm>
            <a:off x="371484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Retângulo: Cantos Arredondados 32"/>
          <p:cNvSpPr/>
          <p:nvPr/>
        </p:nvSpPr>
        <p:spPr>
          <a:xfrm>
            <a:off x="521964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Retângulo: Cantos Arredondados 33"/>
          <p:cNvSpPr/>
          <p:nvPr/>
        </p:nvSpPr>
        <p:spPr>
          <a:xfrm>
            <a:off x="6724800" y="2152800"/>
            <a:ext cx="104400" cy="900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Retângulo: Cantos Arredondados 34"/>
          <p:cNvSpPr/>
          <p:nvPr/>
        </p:nvSpPr>
        <p:spPr>
          <a:xfrm>
            <a:off x="819000" y="2066760"/>
            <a:ext cx="1399680" cy="1807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Retângulo: Cantos Arredondados 35"/>
          <p:cNvSpPr/>
          <p:nvPr/>
        </p:nvSpPr>
        <p:spPr>
          <a:xfrm>
            <a:off x="15145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Retângulo: Cantos Arredondados 36"/>
          <p:cNvSpPr/>
          <p:nvPr/>
        </p:nvSpPr>
        <p:spPr>
          <a:xfrm>
            <a:off x="2324160" y="2066760"/>
            <a:ext cx="1390320" cy="1807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Retângulo: Cantos Arredondados 37"/>
          <p:cNvSpPr/>
          <p:nvPr/>
        </p:nvSpPr>
        <p:spPr>
          <a:xfrm>
            <a:off x="30193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Retângulo: Cantos Arredondados 38"/>
          <p:cNvSpPr/>
          <p:nvPr/>
        </p:nvSpPr>
        <p:spPr>
          <a:xfrm>
            <a:off x="3819600" y="2066760"/>
            <a:ext cx="1399680" cy="1807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Retângulo: Cantos Arredondados 39"/>
          <p:cNvSpPr/>
          <p:nvPr/>
        </p:nvSpPr>
        <p:spPr>
          <a:xfrm>
            <a:off x="452448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Retângulo: Cantos Arredondados 40"/>
          <p:cNvSpPr/>
          <p:nvPr/>
        </p:nvSpPr>
        <p:spPr>
          <a:xfrm>
            <a:off x="5324400" y="2066760"/>
            <a:ext cx="1399680" cy="1807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Retângulo: Cantos Arredondados 41"/>
          <p:cNvSpPr/>
          <p:nvPr/>
        </p:nvSpPr>
        <p:spPr>
          <a:xfrm>
            <a:off x="60199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Retângulo: Cantos Arredondados 42"/>
          <p:cNvSpPr/>
          <p:nvPr/>
        </p:nvSpPr>
        <p:spPr>
          <a:xfrm>
            <a:off x="6829560" y="2066760"/>
            <a:ext cx="1390320" cy="1807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tângulo: Cantos Arredondados 43"/>
          <p:cNvSpPr/>
          <p:nvPr/>
        </p:nvSpPr>
        <p:spPr>
          <a:xfrm>
            <a:off x="7524720" y="2247840"/>
            <a:ext cx="9000" cy="28548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819000" y="628560"/>
            <a:ext cx="7505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Cadeia de Dados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Retângulo 45"/>
          <p:cNvSpPr/>
          <p:nvPr/>
        </p:nvSpPr>
        <p:spPr>
          <a:xfrm>
            <a:off x="819000" y="1371600"/>
            <a:ext cx="13996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Coleta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819000" y="2610000"/>
            <a:ext cx="13996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Dados de CRM são coletados de fontes comerciais e operacionais.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2324160" y="1371600"/>
            <a:ext cx="13903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Integração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2324160" y="2610000"/>
            <a:ext cx="139032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São integrados com Vendas e Logística para uma visão única.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3819600" y="1371600"/>
            <a:ext cx="13996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Preparação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tângulo 50"/>
          <p:cNvSpPr/>
          <p:nvPr/>
        </p:nvSpPr>
        <p:spPr>
          <a:xfrm>
            <a:off x="3819600" y="2610000"/>
            <a:ext cx="13996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Dados limpos, enriquecidos e padronizados para qualidade.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Retângulo 51"/>
          <p:cNvSpPr/>
          <p:nvPr/>
        </p:nvSpPr>
        <p:spPr>
          <a:xfrm>
            <a:off x="5324400" y="1371600"/>
            <a:ext cx="13996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Armazenamento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5324400" y="2610000"/>
            <a:ext cx="13996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Guardados em Data Lake/Warehouse para consulta segura e escalável.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Retângulo 53"/>
          <p:cNvSpPr/>
          <p:nvPr/>
        </p:nvSpPr>
        <p:spPr>
          <a:xfrm>
            <a:off x="6829560" y="1371600"/>
            <a:ext cx="13903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Análise/Entrega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tângulo 54"/>
          <p:cNvSpPr/>
          <p:nvPr/>
        </p:nvSpPr>
        <p:spPr>
          <a:xfrm>
            <a:off x="6829560" y="2610000"/>
            <a:ext cx="139032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BI e ML transformam em dashboards e previsões acionáveis.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: Cantos Arredondados 55"/>
          <p:cNvSpPr/>
          <p:nvPr/>
        </p:nvSpPr>
        <p:spPr>
          <a:xfrm>
            <a:off x="4924440" y="590400"/>
            <a:ext cx="3400200" cy="1152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tângulo: Cantos Arredondados 56"/>
          <p:cNvSpPr/>
          <p:nvPr/>
        </p:nvSpPr>
        <p:spPr>
          <a:xfrm>
            <a:off x="4924440" y="1924200"/>
            <a:ext cx="3400200" cy="1152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tângulo: Cantos Arredondados 57"/>
          <p:cNvSpPr/>
          <p:nvPr/>
        </p:nvSpPr>
        <p:spPr>
          <a:xfrm>
            <a:off x="4924440" y="3267000"/>
            <a:ext cx="3400200" cy="1152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Retângulo 58"/>
          <p:cNvSpPr/>
          <p:nvPr/>
        </p:nvSpPr>
        <p:spPr>
          <a:xfrm>
            <a:off x="819000" y="628560"/>
            <a:ext cx="3314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Benefícios da Inteligência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Retângulo 59"/>
          <p:cNvSpPr/>
          <p:nvPr/>
        </p:nvSpPr>
        <p:spPr>
          <a:xfrm>
            <a:off x="819000" y="3333600"/>
            <a:ext cx="33145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Ganhos práticos da IA de dados: eficiência, previsão, personalização e segurança financeira.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Retângulo 60"/>
          <p:cNvSpPr/>
          <p:nvPr/>
        </p:nvSpPr>
        <p:spPr>
          <a:xfrm>
            <a:off x="5162400" y="628560"/>
            <a:ext cx="29239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707070"/>
                </a:solidFill>
                <a:effectLst/>
                <a:uFillTx/>
                <a:latin typeface="VT323"/>
              </a:rPr>
              <a:t>−18%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Retângulo 61"/>
          <p:cNvSpPr/>
          <p:nvPr/>
        </p:nvSpPr>
        <p:spPr>
          <a:xfrm>
            <a:off x="5162400" y="1162080"/>
            <a:ext cx="29239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Redução de gargalos e melhoria de eficiência operacional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Retângulo 62"/>
          <p:cNvSpPr/>
          <p:nvPr/>
        </p:nvSpPr>
        <p:spPr>
          <a:xfrm>
            <a:off x="5162400" y="1962000"/>
            <a:ext cx="29239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707070"/>
                </a:solidFill>
                <a:effectLst/>
                <a:uFillTx/>
                <a:latin typeface="VT323"/>
              </a:rPr>
              <a:t>+15%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Retângulo 63"/>
          <p:cNvSpPr/>
          <p:nvPr/>
        </p:nvSpPr>
        <p:spPr>
          <a:xfrm>
            <a:off x="5162400" y="2505240"/>
            <a:ext cx="29239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Acurácia de previsões de demanda com análise preditiva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5162400" y="3295800"/>
            <a:ext cx="29239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707070"/>
                </a:solidFill>
                <a:effectLst/>
                <a:uFillTx/>
                <a:latin typeface="VT323"/>
              </a:rPr>
              <a:t>+12%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tângulo 65"/>
          <p:cNvSpPr/>
          <p:nvPr/>
        </p:nvSpPr>
        <p:spPr>
          <a:xfrm>
            <a:off x="5162400" y="3838680"/>
            <a:ext cx="292392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Taxa de conversão de campanhas personalizadas ao comportamento do cliente анализа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tângulo 66"/>
          <p:cNvSpPr/>
          <p:nvPr/>
        </p:nvSpPr>
        <p:spPr>
          <a:xfrm>
            <a:off x="676440" y="790560"/>
            <a:ext cx="786744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Custos e Barreiras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1523880" y="1819440"/>
            <a:ext cx="6914880" cy="148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A implementação de Inteligência de Dados envolve investimentos em infraestrutura, energia e manutenção operacional. A padronização de dados entre setores é dificultosa, gerando silos e retrabalho. Barreiras culturais e resistência a mudanças atrasam a adoção de novas tecnologias.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tângulo 68"/>
          <p:cNvSpPr/>
          <p:nvPr/>
        </p:nvSpPr>
        <p:spPr>
          <a:xfrm>
            <a:off x="676440" y="790560"/>
            <a:ext cx="786744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Aprende com Dados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1523880" y="1819440"/>
            <a:ext cx="6914880" cy="148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O Machine Learning permite que sistemas aprendam a partir de dados para prever e automatizar decisões. Ele identifica padrões sem programar cada situação, gerando previsões úteis. Aplicações comuns incluem recomendações, detecção de fraude e manutenção preditiva.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ângulo 70"/>
          <p:cNvSpPr/>
          <p:nvPr/>
        </p:nvSpPr>
        <p:spPr>
          <a:xfrm>
            <a:off x="819000" y="628560"/>
            <a:ext cx="75052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Princípio Comum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Retângulo 71"/>
          <p:cNvSpPr/>
          <p:nvPr/>
        </p:nvSpPr>
        <p:spPr>
          <a:xfrm>
            <a:off x="819000" y="1467000"/>
            <a:ext cx="35809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Em e‑commerce, o ML analisa comportamento, histórico de compras e preferências para sugerir itens relevantes. O objetivo é aumentar a relevância, a taxa de cliques e as conversões, mantendo a experiência do usuário fluida.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Retângulo 72"/>
          <p:cNvSpPr/>
          <p:nvPr/>
        </p:nvSpPr>
        <p:spPr>
          <a:xfrm>
            <a:off x="4743360" y="1467000"/>
            <a:ext cx="358092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Na indústria, o ML utiliza dados de sensores e logs para prever falhas antes que ocorram. O objetivo é reduzir downtime, planejar intervenções e estender a vida útil dos ativos.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819000" y="4181400"/>
            <a:ext cx="75052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Casos práticos mostram o mesmo aprendizado aplicado a decisões operacionais distintas.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 74"/>
          <p:cNvSpPr/>
          <p:nvPr/>
        </p:nvSpPr>
        <p:spPr>
          <a:xfrm>
            <a:off x="676440" y="790560"/>
            <a:ext cx="786744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Impacto no Mercado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1523880" y="1819440"/>
            <a:ext cx="691488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A automação reduz tarefas repetitivas, liberando tempo para análises e criatividade. Isso eleva a demanda por cientista de dados, engenheiro de dados e analista de BI. Também cresce a necessidade de requalificação em saúde, educação e finanças.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tângulo: Cantos Arredondados 76"/>
          <p:cNvSpPr/>
          <p:nvPr/>
        </p:nvSpPr>
        <p:spPr>
          <a:xfrm>
            <a:off x="819000" y="1943280"/>
            <a:ext cx="1752120" cy="2495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Retângulo: Cantos Arredondados 77"/>
          <p:cNvSpPr/>
          <p:nvPr/>
        </p:nvSpPr>
        <p:spPr>
          <a:xfrm>
            <a:off x="2695680" y="1943280"/>
            <a:ext cx="1752120" cy="2495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Retângulo: Cantos Arredondados 78"/>
          <p:cNvSpPr/>
          <p:nvPr/>
        </p:nvSpPr>
        <p:spPr>
          <a:xfrm>
            <a:off x="4572000" y="1943280"/>
            <a:ext cx="1752120" cy="2495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Retângulo: Cantos Arredondados 79"/>
          <p:cNvSpPr/>
          <p:nvPr/>
        </p:nvSpPr>
        <p:spPr>
          <a:xfrm>
            <a:off x="6448320" y="1943280"/>
            <a:ext cx="1752120" cy="24951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Retângulo 80"/>
          <p:cNvSpPr/>
          <p:nvPr/>
        </p:nvSpPr>
        <p:spPr>
          <a:xfrm>
            <a:off x="819000" y="628560"/>
            <a:ext cx="7505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Roteiro de Dados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tângulo 81"/>
          <p:cNvSpPr/>
          <p:nvPr/>
        </p:nvSpPr>
        <p:spPr>
          <a:xfrm>
            <a:off x="819000" y="1390680"/>
            <a:ext cx="1752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Retângulo 82"/>
          <p:cNvSpPr/>
          <p:nvPr/>
        </p:nvSpPr>
        <p:spPr>
          <a:xfrm>
            <a:off x="990720" y="2181240"/>
            <a:ext cx="140940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Mapear Fontes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990720" y="2657520"/>
            <a:ext cx="1409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Identifique fontes de dados e defina prioridades de uso.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tângulo 84"/>
          <p:cNvSpPr/>
          <p:nvPr/>
        </p:nvSpPr>
        <p:spPr>
          <a:xfrm>
            <a:off x="2695680" y="1390680"/>
            <a:ext cx="1752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Retângulo 85"/>
          <p:cNvSpPr/>
          <p:nvPr/>
        </p:nvSpPr>
        <p:spPr>
          <a:xfrm>
            <a:off x="2867040" y="2181240"/>
            <a:ext cx="140940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Governança e Padrões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Retângulo 86"/>
          <p:cNvSpPr/>
          <p:nvPr/>
        </p:nvSpPr>
        <p:spPr>
          <a:xfrm>
            <a:off x="2867040" y="2657520"/>
            <a:ext cx="1409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Estabeleça políticas, proprietários, qualidade e padrões de dados.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Retângulo 87"/>
          <p:cNvSpPr/>
          <p:nvPr/>
        </p:nvSpPr>
        <p:spPr>
          <a:xfrm>
            <a:off x="4572000" y="1390680"/>
            <a:ext cx="1752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Retângulo 88"/>
          <p:cNvSpPr/>
          <p:nvPr/>
        </p:nvSpPr>
        <p:spPr>
          <a:xfrm>
            <a:off x="4743360" y="2181240"/>
            <a:ext cx="140940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Arquitetura Ideal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Retângulo 89"/>
          <p:cNvSpPr/>
          <p:nvPr/>
        </p:nvSpPr>
        <p:spPr>
          <a:xfrm>
            <a:off x="4743360" y="2657520"/>
            <a:ext cx="14094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Escolha entre data lake, data warehouse ou híbrido, alinhado aos casos.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Retângulo 90"/>
          <p:cNvSpPr/>
          <p:nvPr/>
        </p:nvSpPr>
        <p:spPr>
          <a:xfrm>
            <a:off x="6448320" y="1390680"/>
            <a:ext cx="1752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Retângulo 91"/>
          <p:cNvSpPr/>
          <p:nvPr/>
        </p:nvSpPr>
        <p:spPr>
          <a:xfrm>
            <a:off x="6620040" y="2181240"/>
            <a:ext cx="140940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Capacitar e Monitorar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Retângulo 92"/>
          <p:cNvSpPr/>
          <p:nvPr/>
        </p:nvSpPr>
        <p:spPr>
          <a:xfrm>
            <a:off x="6620040" y="2657520"/>
            <a:ext cx="14094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Treine equipes, implemente indicadores de sucesso e acompanhe resultados.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tângulo 93"/>
          <p:cNvSpPr/>
          <p:nvPr/>
        </p:nvSpPr>
        <p:spPr>
          <a:xfrm>
            <a:off x="676440" y="790560"/>
            <a:ext cx="786744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Vantagem com Dados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1523880" y="1819440"/>
            <a:ext cx="6914880" cy="20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Conclusões apontam que dados e ML são instrumentos centrais para inovação e eficiência operacional. Com governança de qualidade, modelos de ML entregam insights acionáveis e agilidade na decisão. Contudo, alcançar esse benefício exige investimentos contínuos em infraestrutura, dados de qualidade e capacitação de profissionais. Sem gestão de dados e equipes qualificadas, o potencial não se traduzem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tângulo: Cantos Arredondados 95"/>
          <p:cNvSpPr/>
          <p:nvPr/>
        </p:nvSpPr>
        <p:spPr>
          <a:xfrm>
            <a:off x="3686040" y="847800"/>
            <a:ext cx="9000" cy="3447720"/>
          </a:xfrm>
          <a:prstGeom prst="roundRect">
            <a:avLst>
              <a:gd name="adj" fmla="val 16667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Retângulo: Cantos Arredondados 96"/>
          <p:cNvSpPr/>
          <p:nvPr/>
        </p:nvSpPr>
        <p:spPr>
          <a:xfrm>
            <a:off x="3267000" y="571680"/>
            <a:ext cx="866520" cy="2757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Retângulo: Cantos Arredondados 97"/>
          <p:cNvSpPr/>
          <p:nvPr/>
        </p:nvSpPr>
        <p:spPr>
          <a:xfrm>
            <a:off x="3267000" y="4295880"/>
            <a:ext cx="866520" cy="2757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Retângulo 98"/>
          <p:cNvSpPr/>
          <p:nvPr/>
        </p:nvSpPr>
        <p:spPr>
          <a:xfrm>
            <a:off x="3686040" y="1324080"/>
            <a:ext cx="523440" cy="9000"/>
          </a:xfrm>
          <a:prstGeom prst="rect">
            <a:avLst/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5640" rIns="90000" bIns="-35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" name="Triângulo isósceles 99"/>
          <p:cNvSpPr/>
          <p:nvPr/>
        </p:nvSpPr>
        <p:spPr>
          <a:xfrm rot="5400000">
            <a:off x="4210560" y="1295280"/>
            <a:ext cx="66240" cy="66240"/>
          </a:xfrm>
          <a:prstGeom prst="triangle">
            <a:avLst>
              <a:gd name="adj" fmla="val 50000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11520" rIns="90000" bIns="-115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Retângulo 100"/>
          <p:cNvSpPr/>
          <p:nvPr/>
        </p:nvSpPr>
        <p:spPr>
          <a:xfrm>
            <a:off x="3686040" y="2562120"/>
            <a:ext cx="523440" cy="9000"/>
          </a:xfrm>
          <a:prstGeom prst="rect">
            <a:avLst/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5640" rIns="90000" bIns="-35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" name="Triângulo isósceles 101"/>
          <p:cNvSpPr/>
          <p:nvPr/>
        </p:nvSpPr>
        <p:spPr>
          <a:xfrm rot="5400000">
            <a:off x="4210560" y="2533680"/>
            <a:ext cx="66240" cy="66240"/>
          </a:xfrm>
          <a:prstGeom prst="triangle">
            <a:avLst>
              <a:gd name="adj" fmla="val 50000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11520" rIns="90000" bIns="-115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Retângulo 102"/>
          <p:cNvSpPr/>
          <p:nvPr/>
        </p:nvSpPr>
        <p:spPr>
          <a:xfrm>
            <a:off x="3686040" y="3790800"/>
            <a:ext cx="523440" cy="9000"/>
          </a:xfrm>
          <a:prstGeom prst="rect">
            <a:avLst/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5640" rIns="90000" bIns="-35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Triângulo isósceles 103"/>
          <p:cNvSpPr/>
          <p:nvPr/>
        </p:nvSpPr>
        <p:spPr>
          <a:xfrm rot="5400000">
            <a:off x="4210560" y="3762360"/>
            <a:ext cx="66240" cy="66240"/>
          </a:xfrm>
          <a:prstGeom prst="triangle">
            <a:avLst>
              <a:gd name="adj" fmla="val 50000"/>
            </a:avLst>
          </a:prstGeom>
          <a:solidFill>
            <a:srgbClr val="7070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11520" rIns="90000" bIns="-115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" name="Retângulo 104"/>
          <p:cNvSpPr/>
          <p:nvPr/>
        </p:nvSpPr>
        <p:spPr>
          <a:xfrm>
            <a:off x="819000" y="571680"/>
            <a:ext cx="209520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Projeto-Piloto Operacional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Retângulo 105"/>
          <p:cNvSpPr/>
          <p:nvPr/>
        </p:nvSpPr>
        <p:spPr>
          <a:xfrm>
            <a:off x="4486320" y="1076400"/>
            <a:ext cx="13996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Escolha Caso Uso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6058080" y="923760"/>
            <a:ext cx="226656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Defina uma oportunidade com melhoria mensurável (ex.: reduzir tempo de atendimento).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Retângulo 107"/>
          <p:cNvSpPr/>
          <p:nvPr/>
        </p:nvSpPr>
        <p:spPr>
          <a:xfrm>
            <a:off x="4486320" y="2305080"/>
            <a:ext cx="139968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Colete Dados Relevantes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9" name="Retângulo 108"/>
          <p:cNvSpPr/>
          <p:nvPr/>
        </p:nvSpPr>
        <p:spPr>
          <a:xfrm>
            <a:off x="6058080" y="2152800"/>
            <a:ext cx="226656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Selecione fontes e dados que realmente impactem o problema e prepare-os para análise.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0" name="Retângulo 109"/>
          <p:cNvSpPr/>
          <p:nvPr/>
        </p:nvSpPr>
        <p:spPr>
          <a:xfrm>
            <a:off x="4486320" y="3543480"/>
            <a:ext cx="139968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Implemente Dashboard 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Retângulo 110"/>
          <p:cNvSpPr/>
          <p:nvPr/>
        </p:nvSpPr>
        <p:spPr>
          <a:xfrm>
            <a:off x="6058080" y="3390840"/>
            <a:ext cx="226656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Publique um dashboard simples e um modelo básico de ML; mensure a redução em tempo ou % de melhoria.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tângulo 111"/>
          <p:cNvSpPr/>
          <p:nvPr/>
        </p:nvSpPr>
        <p:spPr>
          <a:xfrm>
            <a:off x="676440" y="790560"/>
            <a:ext cx="786744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191919"/>
                </a:solidFill>
                <a:effectLst/>
                <a:uFillTx/>
                <a:latin typeface="VT323"/>
              </a:rPr>
              <a:t>Decisões com Dados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Retângulo 112"/>
          <p:cNvSpPr/>
          <p:nvPr/>
        </p:nvSpPr>
        <p:spPr>
          <a:xfrm>
            <a:off x="1523880" y="1819440"/>
            <a:ext cx="6914880" cy="266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A inteligência de dados transforma dados brutos em decisões estratégicas por meio de coleta, integração, preparação, armazenamento e análise.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Seus principais benefícios: operação otimizada, análise preditiva, personalização e detecção de fraudes; a adoção depende de governança, infraestrutura e capacitação.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91919"/>
                </a:solidFill>
                <a:effectLst/>
                <a:uFillTx/>
                <a:latin typeface="Roboto Mono"/>
              </a:rPr>
              <a:t>O Machine Learning amplia a análise e a automação, alterando as competências exigidas no,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66720" y="1847880"/>
            <a:ext cx="3685680" cy="98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Do you have any questions?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youremail@freepik.com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+00 000 000 000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yourwebsite.com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66720" y="600840"/>
            <a:ext cx="3847680" cy="164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Thank you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374;p41"/>
          <p:cNvSpPr/>
          <p:nvPr/>
        </p:nvSpPr>
        <p:spPr>
          <a:xfrm>
            <a:off x="4943520" y="3181320"/>
            <a:ext cx="320940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7" name="Google Shape;375;p41"/>
          <p:cNvGrpSpPr/>
          <p:nvPr/>
        </p:nvGrpSpPr>
        <p:grpSpPr>
          <a:xfrm>
            <a:off x="786240" y="3047400"/>
            <a:ext cx="437040" cy="437040"/>
            <a:chOff x="786240" y="3047400"/>
            <a:chExt cx="437040" cy="437040"/>
          </a:xfrm>
        </p:grpSpPr>
        <p:sp>
          <p:nvSpPr>
            <p:cNvPr id="118" name="Google Shape;376;p41"/>
            <p:cNvSpPr/>
            <p:nvPr/>
          </p:nvSpPr>
          <p:spPr>
            <a:xfrm>
              <a:off x="786240" y="3047400"/>
              <a:ext cx="437040" cy="4370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9" name="Google Shape;377;p41"/>
            <p:cNvGrpSpPr/>
            <p:nvPr/>
          </p:nvGrpSpPr>
          <p:grpSpPr>
            <a:xfrm>
              <a:off x="873360" y="3126960"/>
              <a:ext cx="275760" cy="275760"/>
              <a:chOff x="873360" y="3126960"/>
              <a:chExt cx="275760" cy="275760"/>
            </a:xfrm>
          </p:grpSpPr>
          <p:sp>
            <p:nvSpPr>
              <p:cNvPr id="120" name="Google Shape;378;p41"/>
              <p:cNvSpPr/>
              <p:nvPr/>
            </p:nvSpPr>
            <p:spPr>
              <a:xfrm>
                <a:off x="873360" y="3126960"/>
                <a:ext cx="275760" cy="275760"/>
              </a:xfrm>
              <a:custGeom>
                <a:avLst/>
                <a:gdLst>
                  <a:gd name="textAreaLeft" fmla="*/ 0 w 275760"/>
                  <a:gd name="textAreaRight" fmla="*/ 276120 w 275760"/>
                  <a:gd name="textAreaTop" fmla="*/ 0 h 275760"/>
                  <a:gd name="textAreaBottom" fmla="*/ 276120 h 27576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379;p41"/>
              <p:cNvSpPr/>
              <p:nvPr/>
            </p:nvSpPr>
            <p:spPr>
              <a:xfrm>
                <a:off x="937800" y="3192480"/>
                <a:ext cx="146880" cy="144000"/>
              </a:xfrm>
              <a:custGeom>
                <a:avLst/>
                <a:gdLst>
                  <a:gd name="textAreaLeft" fmla="*/ 0 w 146880"/>
                  <a:gd name="textAreaRight" fmla="*/ 147240 w 146880"/>
                  <a:gd name="textAreaTop" fmla="*/ 0 h 144000"/>
                  <a:gd name="textAreaBottom" fmla="*/ 144360 h 14400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000" bIns="72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380;p41"/>
              <p:cNvSpPr/>
              <p:nvPr/>
            </p:nvSpPr>
            <p:spPr>
              <a:xfrm>
                <a:off x="1067400" y="3162240"/>
                <a:ext cx="37440" cy="37080"/>
              </a:xfrm>
              <a:custGeom>
                <a:avLst/>
                <a:gdLst>
                  <a:gd name="textAreaLeft" fmla="*/ 0 w 37440"/>
                  <a:gd name="textAreaRight" fmla="*/ 37800 w 3744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3" name="Google Shape;381;p41"/>
          <p:cNvGrpSpPr/>
          <p:nvPr/>
        </p:nvGrpSpPr>
        <p:grpSpPr>
          <a:xfrm>
            <a:off x="1358640" y="3047400"/>
            <a:ext cx="437040" cy="437040"/>
            <a:chOff x="1358640" y="3047400"/>
            <a:chExt cx="437040" cy="437040"/>
          </a:xfrm>
        </p:grpSpPr>
        <p:sp>
          <p:nvSpPr>
            <p:cNvPr id="124" name="Google Shape;382;p41"/>
            <p:cNvSpPr/>
            <p:nvPr/>
          </p:nvSpPr>
          <p:spPr>
            <a:xfrm>
              <a:off x="1358640" y="3047400"/>
              <a:ext cx="437040" cy="4370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5" name="Google Shape;383;p41"/>
            <p:cNvGrpSpPr/>
            <p:nvPr/>
          </p:nvGrpSpPr>
          <p:grpSpPr>
            <a:xfrm>
              <a:off x="1443960" y="3145320"/>
              <a:ext cx="266400" cy="238320"/>
              <a:chOff x="1443960" y="3145320"/>
              <a:chExt cx="266400" cy="238320"/>
            </a:xfrm>
          </p:grpSpPr>
          <p:sp>
            <p:nvSpPr>
              <p:cNvPr id="126" name="Google Shape;384;p41"/>
              <p:cNvSpPr/>
              <p:nvPr/>
            </p:nvSpPr>
            <p:spPr>
              <a:xfrm>
                <a:off x="1453320" y="3229560"/>
                <a:ext cx="60840" cy="154080"/>
              </a:xfrm>
              <a:custGeom>
                <a:avLst/>
                <a:gdLst>
                  <a:gd name="textAreaLeft" fmla="*/ 0 w 60840"/>
                  <a:gd name="textAreaRight" fmla="*/ 61200 w 60840"/>
                  <a:gd name="textAreaTop" fmla="*/ 0 h 154080"/>
                  <a:gd name="textAreaBottom" fmla="*/ 154440 h 154080"/>
                </a:gdLst>
                <a:ahLst/>
                <a:cxnLst/>
                <a:rect l="textAreaLeft" t="textAreaTop" r="textAreaRight" b="textAreaBottom"/>
                <a:pathLst>
                  <a:path w="1502" h="3787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7040" bIns="77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385;p41"/>
              <p:cNvSpPr/>
              <p:nvPr/>
            </p:nvSpPr>
            <p:spPr>
              <a:xfrm>
                <a:off x="1443960" y="31453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728" h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5280" bIns="35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386;p41"/>
              <p:cNvSpPr/>
              <p:nvPr/>
            </p:nvSpPr>
            <p:spPr>
              <a:xfrm>
                <a:off x="1546560" y="3229560"/>
                <a:ext cx="163800" cy="154080"/>
              </a:xfrm>
              <a:custGeom>
                <a:avLst/>
                <a:gdLst>
                  <a:gd name="textAreaLeft" fmla="*/ 0 w 163800"/>
                  <a:gd name="textAreaRight" fmla="*/ 164160 w 163800"/>
                  <a:gd name="textAreaTop" fmla="*/ 0 h 154080"/>
                  <a:gd name="textAreaBottom" fmla="*/ 154440 h 154080"/>
                </a:gdLst>
                <a:ahLst/>
                <a:cxnLst/>
                <a:rect l="textAreaLeft" t="textAreaTop" r="textAreaRight" b="textAreaBottom"/>
                <a:pathLst>
                  <a:path w="4026" h="3787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7040" bIns="77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9" name="Google Shape;387;p41"/>
          <p:cNvGrpSpPr/>
          <p:nvPr/>
        </p:nvGrpSpPr>
        <p:grpSpPr>
          <a:xfrm>
            <a:off x="2005560" y="3047400"/>
            <a:ext cx="437040" cy="437040"/>
            <a:chOff x="2005560" y="3047400"/>
            <a:chExt cx="437040" cy="437040"/>
          </a:xfrm>
        </p:grpSpPr>
        <p:sp>
          <p:nvSpPr>
            <p:cNvPr id="130" name="Google Shape;388;p41"/>
            <p:cNvSpPr/>
            <p:nvPr/>
          </p:nvSpPr>
          <p:spPr>
            <a:xfrm>
              <a:off x="2005560" y="3047400"/>
              <a:ext cx="437040" cy="4370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389;p41"/>
            <p:cNvSpPr/>
            <p:nvPr/>
          </p:nvSpPr>
          <p:spPr>
            <a:xfrm>
              <a:off x="2124720" y="3162960"/>
              <a:ext cx="198720" cy="203040"/>
            </a:xfrm>
            <a:custGeom>
              <a:avLst/>
              <a:gdLst>
                <a:gd name="textAreaLeft" fmla="*/ 0 w 198720"/>
                <a:gd name="textAreaRight" fmla="*/ 199080 w 19872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494728" h="505587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627;p46">
            <a:extLst>
              <a:ext uri="{FF2B5EF4-FFF2-40B4-BE49-F238E27FC236}">
                <a16:creationId xmlns:a16="http://schemas.microsoft.com/office/drawing/2014/main" id="{F93E99E1-DC29-6408-9E2C-492969384D74}"/>
              </a:ext>
            </a:extLst>
          </p:cNvPr>
          <p:cNvGrpSpPr/>
          <p:nvPr/>
        </p:nvGrpSpPr>
        <p:grpSpPr>
          <a:xfrm flipH="1">
            <a:off x="2153691" y="1610324"/>
            <a:ext cx="631989" cy="631989"/>
            <a:chOff x="5681300" y="2527788"/>
            <a:chExt cx="805800" cy="805800"/>
          </a:xfrm>
        </p:grpSpPr>
        <p:sp>
          <p:nvSpPr>
            <p:cNvPr id="5" name="Google Shape;628;p46">
              <a:extLst>
                <a:ext uri="{FF2B5EF4-FFF2-40B4-BE49-F238E27FC236}">
                  <a16:creationId xmlns:a16="http://schemas.microsoft.com/office/drawing/2014/main" id="{9ED0B7DB-8679-2882-1CC5-2906310D5532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5032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29;p46">
              <a:extLst>
                <a:ext uri="{FF2B5EF4-FFF2-40B4-BE49-F238E27FC236}">
                  <a16:creationId xmlns:a16="http://schemas.microsoft.com/office/drawing/2014/main" id="{840EEF82-EA2D-03A1-CE3E-4D7747A5F3DA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B07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7" name="Google Shape;1919;p51">
            <a:extLst>
              <a:ext uri="{FF2B5EF4-FFF2-40B4-BE49-F238E27FC236}">
                <a16:creationId xmlns:a16="http://schemas.microsoft.com/office/drawing/2014/main" id="{3D986542-B225-37D2-C2DB-4B70D961403D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1610322" y="1811439"/>
            <a:ext cx="706616" cy="119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Google Shape;1907;p51">
            <a:extLst>
              <a:ext uri="{FF2B5EF4-FFF2-40B4-BE49-F238E27FC236}">
                <a16:creationId xmlns:a16="http://schemas.microsoft.com/office/drawing/2014/main" id="{AA5C0003-BA24-F482-B367-8F0C395CE7F6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855096" y="2043953"/>
            <a:ext cx="546534" cy="46630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Google Shape;1908;p51">
            <a:extLst>
              <a:ext uri="{FF2B5EF4-FFF2-40B4-BE49-F238E27FC236}">
                <a16:creationId xmlns:a16="http://schemas.microsoft.com/office/drawing/2014/main" id="{BCF89CE0-0301-AE4E-669B-23C49FCE87F4}"/>
              </a:ext>
            </a:extLst>
          </p:cNvPr>
          <p:cNvSpPr/>
          <p:nvPr/>
        </p:nvSpPr>
        <p:spPr>
          <a:xfrm>
            <a:off x="1013131" y="1715033"/>
            <a:ext cx="597191" cy="192812"/>
          </a:xfrm>
          <a:prstGeom prst="rect">
            <a:avLst/>
          </a:prstGeom>
          <a:solidFill>
            <a:schemeClr val="tx2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latin typeface="Inter"/>
                <a:ea typeface="Inter"/>
                <a:cs typeface="Inter"/>
                <a:sym typeface="Inter"/>
              </a:rPr>
              <a:t>5% das empresas usam a inteligência de dados </a:t>
            </a:r>
            <a:endParaRPr sz="8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1908;p51">
            <a:extLst>
              <a:ext uri="{FF2B5EF4-FFF2-40B4-BE49-F238E27FC236}">
                <a16:creationId xmlns:a16="http://schemas.microsoft.com/office/drawing/2014/main" id="{BCF89CE0-0301-AE4E-669B-23C49FCE87F4}"/>
              </a:ext>
            </a:extLst>
          </p:cNvPr>
          <p:cNvSpPr/>
          <p:nvPr/>
        </p:nvSpPr>
        <p:spPr>
          <a:xfrm>
            <a:off x="1556500" y="2510257"/>
            <a:ext cx="597191" cy="192812"/>
          </a:xfrm>
          <a:prstGeom prst="rect">
            <a:avLst/>
          </a:prstGeom>
          <a:solidFill>
            <a:srgbClr val="7030A0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37619697"/>
      </p:ext>
    </p:extLst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702</Words>
  <Application>Microsoft Office PowerPoint</Application>
  <PresentationFormat>Apresentação na tela (16:9)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Arial</vt:lpstr>
      <vt:lpstr>Inter</vt:lpstr>
      <vt:lpstr>OpenSymbol</vt:lpstr>
      <vt:lpstr>Roboto Mono</vt:lpstr>
      <vt:lpstr>Symbol</vt:lpstr>
      <vt:lpstr>VT323</vt:lpstr>
      <vt:lpstr>Wingdings</vt:lpstr>
      <vt:lpstr>My Presentation Template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Thank you</vt:lpstr>
      <vt:lpstr>Apresentação do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etechas</cp:lastModifiedBy>
  <cp:revision>1</cp:revision>
  <dcterms:modified xsi:type="dcterms:W3CDTF">2026-08-18T11:50:27Z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2026-08-18T11:37:39Z</dcterms:created>
  <dc:creator>Slidesgo AI</dc:creator>
  <dc:description/>
  <dc:language>en-US</dc:language>
  <cp:lastModifiedBy>Unknown Creator</cp:lastModifiedBy>
  <dcterms:modified xsi:type="dcterms:W3CDTF">2026-08-18T11:37:39Z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a2881197-24c2-472c-a22c-21486f4b23d4</vt:lpwstr>
  </property>
</Properties>
</file>